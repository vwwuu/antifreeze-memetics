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Nunito"/>
      <p:regular r:id="rId28"/>
      <p:bold r:id="rId29"/>
      <p:italic r:id="rId30"/>
      <p:boldItalic r:id="rId31"/>
    </p:embeddedFont>
    <p:embeddedFont>
      <p:font typeface="Maven Pro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Nunit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boldItalic.fntdata"/><Relationship Id="rId30" Type="http://schemas.openxmlformats.org/officeDocument/2006/relationships/font" Target="fonts/Nunito-italic.fntdata"/><Relationship Id="rId11" Type="http://schemas.openxmlformats.org/officeDocument/2006/relationships/slide" Target="slides/slide6.xml"/><Relationship Id="rId33" Type="http://schemas.openxmlformats.org/officeDocument/2006/relationships/font" Target="fonts/MavenPro-bold.fntdata"/><Relationship Id="rId10" Type="http://schemas.openxmlformats.org/officeDocument/2006/relationships/slide" Target="slides/slide5.xml"/><Relationship Id="rId32" Type="http://schemas.openxmlformats.org/officeDocument/2006/relationships/font" Target="fonts/MavenPro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python.org/doc/essays/blurb/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5d30d4936b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5d30d4936b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5d30d4936b_0_1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5d30d4936b_0_1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Official summary: </a:t>
            </a:r>
            <a:r>
              <a:rPr lang="en" u="sng">
                <a:solidFill>
                  <a:schemeClr val="hlink"/>
                </a:solidFill>
                <a:hlinkClick r:id="rId2"/>
              </a:rPr>
              <a:t>What is Python? Executive Summary | Python.org</a:t>
            </a:r>
            <a:endParaRPr b="1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5d30d4936b_0_1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5d30d4936b_0_1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5d30d4936b_0_1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5d30d4936b_0_1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5d30d4936b_0_1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5d30d4936b_0_1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5d30d4936b_0_1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5d30d4936b_0_1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5d30d4936b_0_1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5d30d4936b_0_1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5d30d4936b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5d30d4936b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5d30d4936b_0_1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5d30d4936b_0_1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5d30d4936b_0_1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5d30d4936b_0_1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5d30d4936b_0_1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5d30d4936b_0_1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5d5778aa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5d5778aa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5d5778aa3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5d5778aa3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5d5778aa3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5d5778aa3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5d5778aa3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25d5778aa3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5d5778aa3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5d5778aa3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5d5778aa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5d5778aa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5d5778aa3c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5d5778aa3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5d5778aa3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5d5778aa3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5d5778aa3c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5d5778aa3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5d5778aa3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5d5778aa3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geeksforgeeks.org/python-functions/#" TargetMode="External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jupyter.org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</a:t>
            </a:r>
            <a:br>
              <a:rPr lang="en"/>
            </a:br>
            <a:r>
              <a:rPr lang="en"/>
              <a:t>Overview	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Vinci Wu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Fundamentals Introduction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 txBox="1"/>
          <p:nvPr>
            <p:ph type="title"/>
          </p:nvPr>
        </p:nvSpPr>
        <p:spPr>
          <a:xfrm>
            <a:off x="1303800" y="1576650"/>
            <a:ext cx="3430500" cy="19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/>
              <a:t>Python</a:t>
            </a:r>
            <a:endParaRPr sz="5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chemeClr val="accent4"/>
                </a:solidFill>
                <a:latin typeface="Nunito"/>
                <a:ea typeface="Nunito"/>
                <a:cs typeface="Nunito"/>
                <a:sym typeface="Nunito"/>
              </a:rPr>
              <a:t>What is Python?</a:t>
            </a:r>
            <a:endParaRPr sz="1200"/>
          </a:p>
        </p:txBody>
      </p:sp>
      <p:sp>
        <p:nvSpPr>
          <p:cNvPr id="289" name="Google Shape;289;p15"/>
          <p:cNvSpPr txBox="1"/>
          <p:nvPr>
            <p:ph idx="2" type="body"/>
          </p:nvPr>
        </p:nvSpPr>
        <p:spPr>
          <a:xfrm>
            <a:off x="4426600" y="462325"/>
            <a:ext cx="3837000" cy="39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 popular programming language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i="1" lang="en" sz="1300"/>
              <a:t>Scripting language</a:t>
            </a:r>
            <a:r>
              <a:rPr lang="en" sz="1300"/>
              <a:t>: used for automating and performing </a:t>
            </a:r>
            <a:r>
              <a:rPr lang="en" sz="1300"/>
              <a:t>functions</a:t>
            </a:r>
            <a:r>
              <a:rPr lang="en" sz="1300"/>
              <a:t>.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i="1" lang="en" sz="1300"/>
              <a:t>Interpreted language</a:t>
            </a:r>
            <a:r>
              <a:rPr lang="en" sz="1300"/>
              <a:t>: no need for a compiler → allows it to run anywhere without setup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Simple and readable syntax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Versatile used for many applications: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Ex: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Web development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Data analysis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Artificial Intelligence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Scientific research</a:t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</a:t>
            </a:r>
            <a:endParaRPr/>
          </a:p>
        </p:txBody>
      </p:sp>
      <p:sp>
        <p:nvSpPr>
          <p:cNvPr id="295" name="Google Shape;295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 encapsulated piece of code used to </a:t>
            </a:r>
            <a:r>
              <a:rPr lang="en"/>
              <a:t>accomplish</a:t>
            </a:r>
            <a:r>
              <a:rPr lang="en"/>
              <a:t> a specific task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Takes </a:t>
            </a:r>
            <a:r>
              <a:rPr lang="en"/>
              <a:t>an input(s) </a:t>
            </a:r>
            <a:r>
              <a:rPr lang="en"/>
              <a:t> and </a:t>
            </a:r>
            <a:r>
              <a:rPr i="1" lang="en"/>
              <a:t>return</a:t>
            </a:r>
            <a:r>
              <a:rPr lang="en"/>
              <a:t>s an output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i="1" lang="en"/>
              <a:t>Does not necessarily need to take any input</a:t>
            </a:r>
            <a:endParaRPr i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i="1" lang="en"/>
              <a:t>Does not necessarily need to return anything</a:t>
            </a:r>
            <a:endParaRPr i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Facilitates code </a:t>
            </a:r>
            <a:r>
              <a:rPr lang="en"/>
              <a:t>reusability</a:t>
            </a:r>
            <a:r>
              <a:rPr lang="en"/>
              <a:t>. Stops the need to write the same code.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Modularization and </a:t>
            </a:r>
            <a:r>
              <a:rPr lang="en"/>
              <a:t>componentization</a:t>
            </a:r>
            <a:r>
              <a:rPr lang="en"/>
              <a:t>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en" u="sng"/>
              <a:t>Keyword</a:t>
            </a:r>
            <a:r>
              <a:rPr lang="en"/>
              <a:t>: </a:t>
            </a:r>
            <a:r>
              <a:rPr b="1" lang="en"/>
              <a:t>def</a:t>
            </a:r>
            <a:r>
              <a:rPr lang="en"/>
              <a:t>, denotes the following code as a Python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en" u="sng"/>
              <a:t>Function name</a:t>
            </a:r>
            <a:r>
              <a:rPr lang="en"/>
              <a:t>: </a:t>
            </a:r>
            <a:r>
              <a:rPr b="1" lang="en"/>
              <a:t>addition</a:t>
            </a:r>
            <a:r>
              <a:rPr lang="en"/>
              <a:t>, the name of our function which will be used to call it.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</a:t>
            </a:r>
            <a:r>
              <a:rPr i="1" lang="en" u="sng"/>
              <a:t>Function body</a:t>
            </a:r>
            <a:r>
              <a:rPr lang="en"/>
              <a:t>: the code inside the function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i="1" lang="en" u="sng"/>
              <a:t>Return</a:t>
            </a:r>
            <a:r>
              <a:rPr lang="en"/>
              <a:t>: the output of the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en" u="sng"/>
              <a:t>Function call</a:t>
            </a:r>
            <a:r>
              <a:rPr lang="en"/>
              <a:t>: invoke the function by providing necessary parameters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/>
              <a:t>f</a:t>
            </a:r>
            <a:r>
              <a:rPr b="1" lang="en"/>
              <a:t>unction_result</a:t>
            </a:r>
            <a:r>
              <a:rPr lang="en"/>
              <a:t> is a variable (mutable; holds a value)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/>
              <a:t>p</a:t>
            </a:r>
            <a:r>
              <a:rPr b="1" lang="en"/>
              <a:t>rint</a:t>
            </a:r>
            <a:r>
              <a:rPr lang="en"/>
              <a:t> is one of Python’s built-in functions to display its argument.</a:t>
            </a:r>
            <a:endParaRPr/>
          </a:p>
        </p:txBody>
      </p:sp>
      <p:pic>
        <p:nvPicPr>
          <p:cNvPr id="301" name="Google Shape;3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8700" y="1924787"/>
            <a:ext cx="3362325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GeeksforGeeks. (n.d.). Python Functions. Retrieved July 29, 2023, from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https://www.geeksforgeeks.org/python-functions/#</a:t>
            </a:r>
            <a:r>
              <a:rPr lang="en"/>
              <a:t> </a:t>
            </a:r>
            <a:endParaRPr/>
          </a:p>
        </p:txBody>
      </p:sp>
      <p:pic>
        <p:nvPicPr>
          <p:cNvPr id="307" name="Google Shape;30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463963" cy="383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Containers to storage information.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Think of them as a way to organize data.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Many types of data structures </a:t>
            </a:r>
            <a:r>
              <a:rPr lang="en"/>
              <a:t>from</a:t>
            </a:r>
            <a:r>
              <a:rPr lang="en"/>
              <a:t> fixed length to variable.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Will focus on two used: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i="1" lang="en"/>
              <a:t>List</a:t>
            </a:r>
            <a:endParaRPr b="1" i="1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i="1" lang="en"/>
              <a:t>Dictionary</a:t>
            </a:r>
            <a:endParaRPr b="1" i="1"/>
          </a:p>
        </p:txBody>
      </p:sp>
      <p:sp>
        <p:nvSpPr>
          <p:cNvPr id="313" name="Google Shape;313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List</a:t>
            </a:r>
            <a:endParaRPr/>
          </a:p>
        </p:txBody>
      </p:sp>
      <p:sp>
        <p:nvSpPr>
          <p:cNvPr id="319" name="Google Shape;319;p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Widely used and versatile.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Items, called </a:t>
            </a:r>
            <a:r>
              <a:rPr b="1" lang="en"/>
              <a:t>elements</a:t>
            </a:r>
            <a:r>
              <a:rPr lang="en"/>
              <a:t>, are stored in order. Initialize it with square brackets ( [ ] 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Mutable meaning can be changed. Items can be added and deleted.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Retrieve items in the list by using square brackets( [ ] 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/>
              <a:t>(Note</a:t>
            </a:r>
            <a:r>
              <a:rPr lang="en"/>
              <a:t>: Python is 0-indexed meaning it starts at 0 rather than 1)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Example: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320" name="Google Shape;3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0725" y="3494463"/>
            <a:ext cx="5162550" cy="13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Dictionary</a:t>
            </a:r>
            <a:endParaRPr/>
          </a:p>
        </p:txBody>
      </p:sp>
      <p:sp>
        <p:nvSpPr>
          <p:cNvPr id="326" name="Google Shape;326;p2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data structure that holds </a:t>
            </a:r>
            <a:r>
              <a:rPr b="1" i="1" lang="en"/>
              <a:t>key-value pairs</a:t>
            </a:r>
            <a:r>
              <a:rPr lang="en"/>
              <a:t> which are values mapped to keys.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Known as a hashmap/map in other programming languages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Initialized with curly braces ( { } 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To access a value mapped to a key use square brackets and the key associated ( [ ] 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Example: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7" name="Google Shape;3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2625" y="3387488"/>
            <a:ext cx="5038725" cy="7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Integrated Development Environment(IDE)</a:t>
            </a:r>
            <a:endParaRPr/>
          </a:p>
        </p:txBody>
      </p:sp>
      <p:sp>
        <p:nvSpPr>
          <p:cNvPr id="333" name="Google Shape;333;p2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Software that allows programmers to create, edit, run, delete, and debug code.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For this program we will use Jupyter Notebook, a web-based interactive development environment for notebooks, code, and data.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Flexible, user-friendly, and used for data science, scientific computing, computational journalism, and machine learning.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IDE website: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Project Jupyter | Home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 Explanation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4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code imports the </a:t>
            </a:r>
            <a:r>
              <a:rPr b="1" i="1" lang="en"/>
              <a:t>libraries</a:t>
            </a:r>
            <a:r>
              <a:rPr lang="en"/>
              <a:t> we will be using throughout this program.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/>
              <a:t>o</a:t>
            </a:r>
            <a:r>
              <a:rPr b="1" lang="en"/>
              <a:t>s</a:t>
            </a:r>
            <a:r>
              <a:rPr lang="en"/>
              <a:t>: allows the program to interact with the system’s operating system. We will be using it to read files.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/>
              <a:t>g</a:t>
            </a:r>
            <a:r>
              <a:rPr b="1" lang="en"/>
              <a:t>lob</a:t>
            </a:r>
            <a:r>
              <a:rPr lang="en"/>
              <a:t>: helps the program to grab files.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/>
              <a:t>m</a:t>
            </a:r>
            <a:r>
              <a:rPr b="1" lang="en"/>
              <a:t>atplotlib.pyplot</a:t>
            </a:r>
            <a:r>
              <a:rPr lang="en"/>
              <a:t>: used to create and visualize plots and data.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Named it as </a:t>
            </a:r>
            <a:r>
              <a:rPr b="1" i="1" lang="en"/>
              <a:t>plt</a:t>
            </a:r>
            <a:r>
              <a:rPr lang="en"/>
              <a:t> for simpler calls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/>
              <a:t>n</a:t>
            </a:r>
            <a:r>
              <a:rPr b="1" lang="en"/>
              <a:t>umpy</a:t>
            </a:r>
            <a:r>
              <a:rPr lang="en"/>
              <a:t>: allows for more efficient </a:t>
            </a:r>
            <a:r>
              <a:rPr lang="en"/>
              <a:t>management</a:t>
            </a:r>
            <a:r>
              <a:rPr lang="en"/>
              <a:t> of data.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Named it as </a:t>
            </a:r>
            <a:r>
              <a:rPr b="1" i="1" lang="en"/>
              <a:t>np</a:t>
            </a:r>
            <a:r>
              <a:rPr lang="en"/>
              <a:t> for simpler calls</a:t>
            </a:r>
            <a:endParaRPr/>
          </a:p>
        </p:txBody>
      </p:sp>
      <p:pic>
        <p:nvPicPr>
          <p:cNvPr id="344" name="Google Shape;3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050" y="1914525"/>
            <a:ext cx="2581275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1056750" y="16794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Uses the </a:t>
            </a:r>
            <a:r>
              <a:rPr b="1" lang="en"/>
              <a:t>glob </a:t>
            </a:r>
            <a:r>
              <a:rPr lang="en"/>
              <a:t>and </a:t>
            </a:r>
            <a:r>
              <a:rPr b="1" lang="en"/>
              <a:t>os</a:t>
            </a:r>
            <a:r>
              <a:rPr lang="en"/>
              <a:t> libraries’ functions to extract all text file names from a given directory path.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In this example “</a:t>
            </a:r>
            <a:r>
              <a:rPr b="1" i="1" lang="en"/>
              <a:t>C:\\Users\\Vinci\\Desktop\\Ice Crystal Program\\07142023\\</a:t>
            </a:r>
            <a:r>
              <a:rPr lang="en"/>
              <a:t>” is where all data text files are located.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*.txt tells the function to fetch all files with .txt extension. (The </a:t>
            </a:r>
            <a:r>
              <a:rPr b="1" lang="en"/>
              <a:t>* </a:t>
            </a:r>
            <a:r>
              <a:rPr lang="en"/>
              <a:t>symbol means to select all)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Use Python’s built-in function </a:t>
            </a:r>
            <a:r>
              <a:rPr b="1" i="1" lang="en"/>
              <a:t>len</a:t>
            </a:r>
            <a:r>
              <a:rPr lang="en"/>
              <a:t> to get the number of txt_files gotten.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i="1" lang="en"/>
              <a:t>b</a:t>
            </a:r>
            <a:r>
              <a:rPr b="1" i="1" lang="en"/>
              <a:t>atch_sizes</a:t>
            </a:r>
            <a:r>
              <a:rPr i="1" lang="en"/>
              <a:t> </a:t>
            </a:r>
            <a:r>
              <a:rPr lang="en"/>
              <a:t>is the number of text files we want to read each time, in this case we want to only process 4 files at a time.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i="1" lang="en"/>
              <a:t>f</a:t>
            </a:r>
            <a:r>
              <a:rPr b="1" i="1" lang="en"/>
              <a:t>ile_batches</a:t>
            </a:r>
            <a:r>
              <a:rPr lang="en"/>
              <a:t> </a:t>
            </a:r>
            <a:r>
              <a:rPr lang="en"/>
              <a:t>partitions</a:t>
            </a:r>
            <a:r>
              <a:rPr lang="en"/>
              <a:t> each text file into a list of 4 stored in another list.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The structure will be [ [ ], [ ], [ ] ], a 2D array/list</a:t>
            </a:r>
            <a:endParaRPr/>
          </a:p>
        </p:txBody>
      </p:sp>
      <p:pic>
        <p:nvPicPr>
          <p:cNvPr id="350" name="Google Shape;3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300" y="640013"/>
            <a:ext cx="7953375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6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This is a function that takes in a line from a text file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 </a:t>
            </a:r>
            <a:r>
              <a:rPr b="1" i="1" lang="en"/>
              <a:t>line</a:t>
            </a:r>
            <a:r>
              <a:rPr lang="en"/>
              <a:t> is a string where each word is separated by a comma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Example: “Object, Number, 38, 9.21”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It </a:t>
            </a:r>
            <a:r>
              <a:rPr b="1" i="1" lang="en"/>
              <a:t>split</a:t>
            </a:r>
            <a:r>
              <a:rPr lang="en"/>
              <a:t>s the string on the comma, resulting in a list of strings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Example: [“Object”, “Number”, “38”, “9.21”]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It will then go through the list of strings </a:t>
            </a:r>
            <a:r>
              <a:rPr lang="en"/>
              <a:t>and</a:t>
            </a:r>
            <a:r>
              <a:rPr lang="en"/>
              <a:t> converts each item to its correct value.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Integer, “38” → 38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Float, “9.21” → 9.21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String, remains a string, “Object” → “Object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i="1" lang="en"/>
              <a:t>r</a:t>
            </a:r>
            <a:r>
              <a:rPr b="1" i="1" lang="en"/>
              <a:t>eturns</a:t>
            </a:r>
            <a:r>
              <a:rPr i="1" lang="en"/>
              <a:t> </a:t>
            </a:r>
            <a:r>
              <a:rPr lang="en"/>
              <a:t>a list of the line with each item properly converted to its proper type.</a:t>
            </a:r>
            <a:endParaRPr/>
          </a:p>
        </p:txBody>
      </p:sp>
      <p:pic>
        <p:nvPicPr>
          <p:cNvPr id="356" name="Google Shape;3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6475" y="1333500"/>
            <a:ext cx="3362325" cy="2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7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Parses the lines of a </a:t>
            </a:r>
            <a:r>
              <a:rPr lang="en"/>
              <a:t>text file</a:t>
            </a:r>
            <a:r>
              <a:rPr lang="en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i="1" lang="en"/>
              <a:t>m</a:t>
            </a:r>
            <a:r>
              <a:rPr b="1" i="1" lang="en"/>
              <a:t>aketrans</a:t>
            </a:r>
            <a:r>
              <a:rPr lang="en"/>
              <a:t> is used, along with </a:t>
            </a:r>
            <a:r>
              <a:rPr b="1" i="1" lang="en"/>
              <a:t>.translate</a:t>
            </a:r>
            <a:r>
              <a:rPr lang="en"/>
              <a:t> to help remove quotations in the string.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Opens the text file and goes through it line by line.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Removes any spaces leading or ending.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Checks </a:t>
            </a:r>
            <a:r>
              <a:rPr b="1" i="1" lang="en"/>
              <a:t>if</a:t>
            </a:r>
            <a:r>
              <a:rPr lang="en"/>
              <a:t> the line is blank, if it isn’t, meaning </a:t>
            </a:r>
            <a:r>
              <a:rPr b="1" i="1" lang="en"/>
              <a:t>line</a:t>
            </a:r>
            <a:r>
              <a:rPr lang="en"/>
              <a:t> is not empty then we are able to use our previous function to get a list of each “word” in the line.</a:t>
            </a:r>
            <a:endParaRPr/>
          </a:p>
        </p:txBody>
      </p:sp>
      <p:pic>
        <p:nvPicPr>
          <p:cNvPr id="362" name="Google Shape;36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425" y="1538288"/>
            <a:ext cx="444817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8"/>
          <p:cNvSpPr txBox="1"/>
          <p:nvPr>
            <p:ph idx="1" type="body"/>
          </p:nvPr>
        </p:nvSpPr>
        <p:spPr>
          <a:xfrm>
            <a:off x="1303800" y="3561450"/>
            <a:ext cx="5843100" cy="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Function to read through the large data set from each 4 file batch and get only the </a:t>
            </a:r>
            <a:r>
              <a:rPr b="1" i="1" lang="en"/>
              <a:t>total image area</a:t>
            </a:r>
            <a:r>
              <a:rPr lang="en"/>
              <a:t> from the ice volume datas.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i="1" lang="en"/>
              <a:t>Returns</a:t>
            </a:r>
            <a:r>
              <a:rPr lang="en"/>
              <a:t> a list of the total image area from each file.</a:t>
            </a:r>
            <a:endParaRPr/>
          </a:p>
        </p:txBody>
      </p:sp>
      <p:pic>
        <p:nvPicPr>
          <p:cNvPr id="368" name="Google Shape;36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3184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9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Part 1</a:t>
            </a:r>
            <a:endParaRPr/>
          </a:p>
        </p:txBody>
      </p:sp>
      <p:pic>
        <p:nvPicPr>
          <p:cNvPr id="374" name="Google Shape;37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400" y="1343763"/>
            <a:ext cx="5570791" cy="3834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 of function process_batch_threshhold</a:t>
            </a:r>
            <a:endParaRPr/>
          </a:p>
        </p:txBody>
      </p:sp>
      <p:sp>
        <p:nvSpPr>
          <p:cNvPr id="376" name="Google Shape;376;p29"/>
          <p:cNvSpPr txBox="1"/>
          <p:nvPr>
            <p:ph idx="2" type="body"/>
          </p:nvPr>
        </p:nvSpPr>
        <p:spPr>
          <a:xfrm>
            <a:off x="5768200" y="1343775"/>
            <a:ext cx="3375900" cy="3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Takes a list of filenames as input in parameter </a:t>
            </a:r>
            <a:r>
              <a:rPr b="1" i="1" lang="en"/>
              <a:t>batch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Read each line from each of the 4 files and add them into the a single list.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i="1" lang="en"/>
              <a:t>For </a:t>
            </a:r>
            <a:r>
              <a:rPr lang="en"/>
              <a:t>each file we then only keep the </a:t>
            </a:r>
            <a:r>
              <a:rPr lang="en"/>
              <a:t>threshold</a:t>
            </a:r>
            <a:r>
              <a:rPr lang="en"/>
              <a:t> data.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Get the column headers for the </a:t>
            </a:r>
            <a:r>
              <a:rPr lang="en"/>
              <a:t>threshold data and store it in </a:t>
            </a:r>
            <a:r>
              <a:rPr b="1" i="1" lang="en"/>
              <a:t>object_data_keys</a:t>
            </a:r>
            <a:endParaRPr b="1" i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We now have the threshold data and their column headers. Now we combine it to make it easier to manage and access the data.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We go through the data set and map the respective header with its data (a dictionary which has key-value pairs)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 of function process_batch_threshhold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0"/>
          <p:cNvSpPr txBox="1"/>
          <p:nvPr>
            <p:ph idx="2" type="body"/>
          </p:nvPr>
        </p:nvSpPr>
        <p:spPr>
          <a:xfrm>
            <a:off x="5972600" y="1520250"/>
            <a:ext cx="3171300" cy="31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now filter the threshold data.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Inverse the </a:t>
            </a:r>
            <a:r>
              <a:rPr lang="en"/>
              <a:t>roundness</a:t>
            </a:r>
            <a:r>
              <a:rPr lang="en"/>
              <a:t> of each object. (This is made easier by us mapping the column header to its respective value.)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We go through the data and filter out objects based on roundness.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We then remove the objects that have an absolute difference of their X &amp; Y &lt; 0.2.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i="1" lang="en"/>
              <a:t>Return</a:t>
            </a:r>
            <a:r>
              <a:rPr lang="en"/>
              <a:t> a list of all unique objects with the data associated with them (a list of dictionaries)</a:t>
            </a:r>
            <a:endParaRPr/>
          </a:p>
        </p:txBody>
      </p:sp>
      <p:pic>
        <p:nvPicPr>
          <p:cNvPr id="383" name="Google Shape;38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250" y="1520250"/>
            <a:ext cx="5835350" cy="328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250" y="1533974"/>
            <a:ext cx="5049925" cy="345377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Area, Average Radii, &amp; IVF helper functions</a:t>
            </a:r>
            <a:endParaRPr/>
          </a:p>
        </p:txBody>
      </p:sp>
      <p:sp>
        <p:nvSpPr>
          <p:cNvPr id="390" name="Google Shape;390;p31"/>
          <p:cNvSpPr txBox="1"/>
          <p:nvPr>
            <p:ph idx="2" type="body"/>
          </p:nvPr>
        </p:nvSpPr>
        <p:spPr>
          <a:xfrm>
            <a:off x="5329175" y="15638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/>
              <a:t>c</a:t>
            </a:r>
            <a:r>
              <a:rPr b="1" lang="en"/>
              <a:t>alculate_area</a:t>
            </a:r>
            <a:r>
              <a:rPr lang="en"/>
              <a:t>: </a:t>
            </a:r>
            <a:r>
              <a:rPr lang="en"/>
              <a:t>Gets the total area from all objects in the 4 file batch.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/>
              <a:t>c</a:t>
            </a:r>
            <a:r>
              <a:rPr b="1" lang="en"/>
              <a:t>alculate_average_radii</a:t>
            </a:r>
            <a:r>
              <a:rPr lang="en"/>
              <a:t>: Calculates the average radii for each object in the 4 file batch then cubes it.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/>
              <a:t>c</a:t>
            </a:r>
            <a:r>
              <a:rPr b="1" lang="en"/>
              <a:t>alculate_ivf</a:t>
            </a:r>
            <a:r>
              <a:rPr lang="en"/>
              <a:t>: Calculates the IVF using the total image area from the ice volume data and the total area for the 4 file batch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2"/>
          <p:cNvSpPr txBox="1"/>
          <p:nvPr>
            <p:ph idx="1" type="body"/>
          </p:nvPr>
        </p:nvSpPr>
        <p:spPr>
          <a:xfrm>
            <a:off x="1547800" y="3315825"/>
            <a:ext cx="6048300" cy="13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This is the “main” code. 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Get all the ice volume total image areas for ALL files. A list of list ( [ [ ], [ ], [ ], … ]) with each inner list being length of 4 representing each batch of 4 files. 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Get all the filtered and unique threshold data for ALL files. Same as above.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Create key-value mappings for each batch of 4 containing that batch’s average radii and IVF value.</a:t>
            </a:r>
            <a:endParaRPr/>
          </a:p>
        </p:txBody>
      </p:sp>
      <p:pic>
        <p:nvPicPr>
          <p:cNvPr id="396" name="Google Shape;39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7800" y="1885950"/>
            <a:ext cx="6048375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3"/>
          <p:cNvSpPr txBox="1"/>
          <p:nvPr>
            <p:ph idx="2" type="body"/>
          </p:nvPr>
        </p:nvSpPr>
        <p:spPr>
          <a:xfrm>
            <a:off x="4961500" y="1190100"/>
            <a:ext cx="3430500" cy="27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Creates a plot for our radii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Converts out average radii data into a numpy array for faster computation (optional).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Create a new plot with matlibplot function </a:t>
            </a:r>
            <a:r>
              <a:rPr b="1" i="1" lang="en"/>
              <a:t>figure()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Add x &amp; y labels and title for the plot.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Create a line of best fit and scatter plot for the graph.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Show the graph with </a:t>
            </a:r>
            <a:r>
              <a:rPr b="1" i="1" lang="en"/>
              <a:t>show()</a:t>
            </a:r>
            <a:r>
              <a:rPr lang="en"/>
              <a:t> function.</a:t>
            </a:r>
            <a:endParaRPr/>
          </a:p>
        </p:txBody>
      </p:sp>
      <p:pic>
        <p:nvPicPr>
          <p:cNvPr id="402" name="Google Shape;40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661000"/>
            <a:ext cx="4598900" cy="2192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0550" y="2984224"/>
            <a:ext cx="2934956" cy="198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4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Creates a plot for our IVF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Converts out IVF into a numpy array for faster computation (optional).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Create a new plot with matlibplot function </a:t>
            </a:r>
            <a:r>
              <a:rPr b="1" i="1" lang="en"/>
              <a:t>figure()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Add x &amp; y labels and title for the plot.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Create a line of best fit and scatter plot for the graph.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Show the graph with </a:t>
            </a:r>
            <a:r>
              <a:rPr b="1" i="1" lang="en"/>
              <a:t>show()</a:t>
            </a:r>
            <a:r>
              <a:rPr lang="en"/>
              <a:t> function.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09" name="Google Shape;40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661000"/>
            <a:ext cx="4598899" cy="1922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2013" y="2721735"/>
            <a:ext cx="3244482" cy="2254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